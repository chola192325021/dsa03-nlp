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Morphological Analysis for Indian Languages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61167" y="4776746"/>
            <a:ext cx="3097033" cy="693751"/>
          </a:xfrm>
        </p:spPr>
        <p:txBody>
          <a:bodyPr>
            <a:normAutofit/>
          </a:bodyPr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P. Chola Lakshmi Narasimha</a:t>
            </a:r>
          </a:p>
          <a:p>
            <a:pPr algn="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192325021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SE-Computer Science and Engineering">
            <a:extLst>
              <a:ext uri="{FF2B5EF4-FFF2-40B4-BE49-F238E27FC236}">
                <a16:creationId xmlns:a16="http://schemas.microsoft.com/office/drawing/2014/main" id="{87D49CAE-098A-05FB-46F3-432E7BCC9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4" y="210422"/>
            <a:ext cx="8986185" cy="1093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836" y="2304885"/>
            <a:ext cx="7327127" cy="3106971"/>
          </a:xfrm>
        </p:spPr>
        <p:txBody>
          <a:bodyPr/>
          <a:lstStyle/>
          <a:p>
            <a:pPr>
              <a:defRPr sz="2200"/>
            </a:pPr>
            <a:r>
              <a:rPr dirty="0"/>
              <a:t>Morphology studies the internal structure of words.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Morphological analysis identifies roots, stems, prefixes, suffixes, and grammatical features.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Essential for NLP tasks in morphologically rich Indian languages.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EFA5B-AA50-1587-B86F-790DBB0BC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" y="284577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C905EE-EB6B-3335-63BD-A2D736BD3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567" y="334094"/>
            <a:ext cx="8229600" cy="1143000"/>
          </a:xfrm>
        </p:spPr>
        <p:txBody>
          <a:bodyPr>
            <a:normAutofit/>
          </a:bodyPr>
          <a:lstStyle/>
          <a:p>
            <a:r>
              <a:rPr sz="3400" dirty="0"/>
              <a:t>Why Indian Languages?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77" y="2029570"/>
            <a:ext cx="7319176" cy="3639709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dirty="0"/>
              <a:t>• Rich inflection and derivation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Agglutinative (Tamil, Telugu, Kannada, Malayalam)</a:t>
            </a:r>
            <a:r>
              <a:rPr lang="en-IN" sz="2200" dirty="0"/>
              <a:t> form long words by joining many suffixes.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Highly inflected (Hindi, Marathi, Bengali)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Multiple scripts and complex word 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EE1B92-0730-B6B9-6274-4F4727B78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0" y="274638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5C1A6D-E1F9-8110-63C0-9954E3211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dirty="0"/>
              <a:t>Morphological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8192" y="1997765"/>
            <a:ext cx="5124615" cy="4140642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dirty="0"/>
              <a:t>• Morpheme: Smallest meaningful unit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Root/Stem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Prefix &amp; Suffix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Inflection vs Derivation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Lemmatization and Stemming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61F77-C1AF-AFC0-600B-EFA3DCD78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" y="284577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CBDA06-5685-7D74-1BDE-2E4F67836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062" y="910994"/>
            <a:ext cx="7207857" cy="1053230"/>
          </a:xfrm>
        </p:spPr>
        <p:txBody>
          <a:bodyPr>
            <a:normAutofit/>
          </a:bodyPr>
          <a:lstStyle/>
          <a:p>
            <a:r>
              <a:rPr sz="3400" dirty="0"/>
              <a:t>Morphological Analysis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5454" y="2523544"/>
            <a:ext cx="6881854" cy="4115795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dirty="0"/>
              <a:t>Tokenization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Morpheme Segmentation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Root Identification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Feature Extraction (Gender, Number, Tense, Case)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Morphological Parsing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9ABEF-5D1F-2A95-2F43-1699554DB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79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CC440B-3F1E-1F55-88B7-EC7C01125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865" y="204754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152" y="1910300"/>
            <a:ext cx="5601695" cy="4021374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dirty="0"/>
              <a:t>• Rule-Based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Dictionary/Lexicon-Based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Statistical Methods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Machine Learning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Deep Learning (</a:t>
            </a:r>
            <a:r>
              <a:rPr dirty="0" err="1"/>
              <a:t>BiLSTM</a:t>
            </a:r>
            <a:r>
              <a:rPr dirty="0"/>
              <a:t>, Transformers)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B3698-9B07-1C0C-2C98-579D4EAC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" y="284577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B3C6C5-A422-C33E-87A1-3038E31EE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2715" y="2180646"/>
            <a:ext cx="5458570" cy="2073303"/>
          </a:xfrm>
        </p:spPr>
        <p:txBody>
          <a:bodyPr/>
          <a:lstStyle/>
          <a:p>
            <a:pPr>
              <a:defRPr sz="2200"/>
            </a:pPr>
            <a:r>
              <a:rPr dirty="0"/>
              <a:t>Hindi: </a:t>
            </a:r>
            <a:r>
              <a:rPr dirty="0" err="1"/>
              <a:t>लड़कों</a:t>
            </a:r>
            <a:r>
              <a:rPr dirty="0"/>
              <a:t> = </a:t>
            </a:r>
            <a:r>
              <a:rPr dirty="0" err="1"/>
              <a:t>लड़का</a:t>
            </a:r>
            <a:r>
              <a:rPr dirty="0"/>
              <a:t> + </a:t>
            </a:r>
            <a:r>
              <a:rPr dirty="0" err="1"/>
              <a:t>ओं</a:t>
            </a:r>
            <a:r>
              <a:rPr dirty="0"/>
              <a:t> (plural, oblique)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Telugu: </a:t>
            </a:r>
            <a:r>
              <a:rPr dirty="0" err="1"/>
              <a:t>పుస్తకాలలో</a:t>
            </a:r>
            <a:r>
              <a:rPr dirty="0"/>
              <a:t> = </a:t>
            </a:r>
            <a:r>
              <a:rPr dirty="0" err="1"/>
              <a:t>పుస్తక</a:t>
            </a:r>
            <a:r>
              <a:rPr dirty="0"/>
              <a:t> + </a:t>
            </a:r>
            <a:r>
              <a:rPr dirty="0" err="1"/>
              <a:t>ఆలు</a:t>
            </a:r>
            <a:r>
              <a:rPr dirty="0"/>
              <a:t> + </a:t>
            </a:r>
            <a:r>
              <a:rPr dirty="0" err="1"/>
              <a:t>లో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Tamil: </a:t>
            </a:r>
            <a:r>
              <a:rPr dirty="0" err="1"/>
              <a:t>வீட்டிற்கு</a:t>
            </a:r>
            <a:r>
              <a:rPr dirty="0"/>
              <a:t> = </a:t>
            </a:r>
            <a:r>
              <a:rPr dirty="0" err="1"/>
              <a:t>வீடு</a:t>
            </a:r>
            <a:r>
              <a:rPr dirty="0"/>
              <a:t> + </a:t>
            </a:r>
            <a:r>
              <a:rPr dirty="0" err="1"/>
              <a:t>இற்கு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751B2-CD2B-ED69-D42F-D30006608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" y="284577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78873C-C4F7-1328-5A07-350F2E530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2369" y="2054418"/>
            <a:ext cx="4126727" cy="40283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2200"/>
            </a:pPr>
            <a:r>
              <a:rPr dirty="0"/>
              <a:t>• Machine Translation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Speech Recognition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Spell Checking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Information Retrieval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Text Summarization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Question Answering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40CA2-4310-2E08-9EFD-0D663E17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" y="284577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5DD055-2C54-D66A-1613-C626FBC7B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3078" y="1919245"/>
            <a:ext cx="3494599" cy="4402042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dirty="0"/>
              <a:t>• Rich morphology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Ambiguity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Low-resource languages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Script diversity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Compound words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50004-1CAD-D576-6183-D83CACF3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" y="284577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85A069-1CC1-CE16-B3A6-7116B58F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8941" y="1950057"/>
            <a:ext cx="4347376" cy="4061129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dirty="0"/>
              <a:t>• Indic NLP Library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HFST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Apertium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FST-based analyzers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spaCy</a:t>
            </a:r>
            <a:r>
              <a:rPr dirty="0"/>
              <a:t> (limited Indic support)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5231B-8454-D46D-1F3A-E122905DD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" y="284577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DAA752-0914-E974-77EF-D42841DAC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26" y="2204499"/>
            <a:ext cx="6082747" cy="2701456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dirty="0"/>
              <a:t>• Morphological analysis improves NLP accuracy.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Crucial for Indian language technologies.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Enables robust multilingual AI systems.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220A8-42F3-4A97-1A3F-1DCDC0A7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" y="284577"/>
            <a:ext cx="1762125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5AA71A-4607-3DA2-1CA6-0D51679CE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388" y="312738"/>
            <a:ext cx="1762125" cy="106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266</Words>
  <Application>Microsoft Office PowerPoint</Application>
  <PresentationFormat>On-screen Show (4:3)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Morphological Analysis for Indian Languages</vt:lpstr>
      <vt:lpstr>Introduction</vt:lpstr>
      <vt:lpstr>Why Indian Languages?</vt:lpstr>
      <vt:lpstr>Morphological Concepts</vt:lpstr>
      <vt:lpstr>Morphological Analysis Process</vt:lpstr>
      <vt:lpstr>Approaches</vt:lpstr>
      <vt:lpstr>Examples</vt:lpstr>
      <vt:lpstr>Applications</vt:lpstr>
      <vt:lpstr>Challenges</vt:lpstr>
      <vt:lpstr>Popular Tools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Chola Lakshmi Narasimha</cp:lastModifiedBy>
  <cp:revision>4</cp:revision>
  <dcterms:created xsi:type="dcterms:W3CDTF">2013-01-27T09:14:16Z</dcterms:created>
  <dcterms:modified xsi:type="dcterms:W3CDTF">2026-07-25T06:23:12Z</dcterms:modified>
  <cp:category/>
</cp:coreProperties>
</file>